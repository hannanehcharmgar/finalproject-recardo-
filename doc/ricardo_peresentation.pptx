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7"/>
  </p:notesMasterIdLst>
  <p:sldIdLst>
    <p:sldId id="256" r:id="rId2"/>
    <p:sldId id="258" r:id="rId3"/>
    <p:sldId id="260" r:id="rId4"/>
    <p:sldId id="261" r:id="rId5"/>
    <p:sldId id="265" r:id="rId6"/>
    <p:sldId id="262" r:id="rId7"/>
    <p:sldId id="264" r:id="rId8"/>
    <p:sldId id="266" r:id="rId9"/>
    <p:sldId id="271" r:id="rId10"/>
    <p:sldId id="267" r:id="rId11"/>
    <p:sldId id="272" r:id="rId12"/>
    <p:sldId id="273" r:id="rId13"/>
    <p:sldId id="269" r:id="rId14"/>
    <p:sldId id="274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6FA6B-3114-4C26-B91E-EAA10C3852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BEC0-6AA9-4648-8E45-02AE6416F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4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EC0-6AA9-4648-8E45-02AE6416F7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56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EC0-6AA9-4648-8E45-02AE6416F7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2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EC0-6AA9-4648-8E45-02AE6416F7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74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EC0-6AA9-4648-8E45-02AE6416F7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52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BEC0-6AA9-4648-8E45-02AE6416F7E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95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6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47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0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2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3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3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5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6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50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9423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97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426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60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2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08DC8-7888-4C5F-BBF1-14E81F257E8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19F2-AC28-463C-B983-D2BAF4BB1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39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BAA954F-ADBD-4DF2-B419-0B4CF24A9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941" y="149875"/>
            <a:ext cx="1804893" cy="2294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2E9C63E-451F-F04E-F29F-5337E2D1C4B0}"/>
              </a:ext>
            </a:extLst>
          </p:cNvPr>
          <p:cNvSpPr txBox="1">
            <a:spLocks/>
          </p:cNvSpPr>
          <p:nvPr/>
        </p:nvSpPr>
        <p:spPr>
          <a:xfrm>
            <a:off x="2150777" y="2479685"/>
            <a:ext cx="2231136" cy="440267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a-IR" sz="2000" dirty="0">
                <a:cs typeface="B Nazanin" panose="00000400000000000000" pitchFamily="2" charset="-78"/>
              </a:rPr>
              <a:t>گروه کامپیوتر</a:t>
            </a:r>
            <a:endParaRPr lang="en-US" sz="2000" dirty="0">
              <a:cs typeface="B Nazanin" panose="00000400000000000000" pitchFamily="2" charset="-78"/>
            </a:endParaRP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47475438-0E2A-93CF-4E10-840447F25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40" y="3064901"/>
            <a:ext cx="6217096" cy="956731"/>
          </a:xfrm>
        </p:spPr>
        <p:txBody>
          <a:bodyPr anchor="ctr">
            <a:noAutofit/>
          </a:bodyPr>
          <a:lstStyle/>
          <a:p>
            <a:pPr algn="ctr" rtl="1"/>
            <a:r>
              <a:rPr lang="fa-IR" sz="3600" b="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دستیار هوشمند ریکاردو (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AI Agent</a:t>
            </a:r>
            <a:r>
              <a:rPr lang="fa-IR" sz="3600" b="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en-US" sz="3600" b="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6" name="Subtitle 4">
            <a:extLst>
              <a:ext uri="{FF2B5EF4-FFF2-40B4-BE49-F238E27FC236}">
                <a16:creationId xmlns:a16="http://schemas.microsoft.com/office/drawing/2014/main" id="{A767CFB8-7A7D-46F2-2D81-362377E75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94" y="4261036"/>
            <a:ext cx="6296342" cy="2011748"/>
          </a:xfrm>
        </p:spPr>
        <p:txBody>
          <a:bodyPr>
            <a:normAutofit fontScale="85000" lnSpcReduction="20000"/>
          </a:bodyPr>
          <a:lstStyle/>
          <a:p>
            <a:pPr algn="ctr" rtl="1">
              <a:lnSpc>
                <a:spcPct val="120000"/>
              </a:lnSpc>
            </a:pPr>
            <a:r>
              <a:rPr lang="fa-IR" dirty="0">
                <a:cs typeface="B Nazanin" panose="00000400000000000000" pitchFamily="2" charset="-78"/>
              </a:rPr>
              <a:t>ارائه کننده:</a:t>
            </a:r>
          </a:p>
          <a:p>
            <a:pPr algn="ctr" rtl="1">
              <a:lnSpc>
                <a:spcPct val="120000"/>
              </a:lnSpc>
            </a:pPr>
            <a:r>
              <a:rPr lang="fa-IR" b="1" dirty="0">
                <a:cs typeface="B Nazanin" panose="00000400000000000000" pitchFamily="2" charset="-78"/>
              </a:rPr>
              <a:t>محمدعارف واشیان</a:t>
            </a:r>
          </a:p>
          <a:p>
            <a:pPr algn="ctr" rtl="1">
              <a:lnSpc>
                <a:spcPct val="120000"/>
              </a:lnSpc>
            </a:pPr>
            <a:r>
              <a:rPr lang="fa-IR" b="1" dirty="0">
                <a:cs typeface="B Nazanin" panose="00000400000000000000" pitchFamily="2" charset="-78"/>
              </a:rPr>
              <a:t>حنانه چرم‌گر</a:t>
            </a:r>
          </a:p>
          <a:p>
            <a:pPr algn="ctr" rtl="1">
              <a:lnSpc>
                <a:spcPct val="120000"/>
              </a:lnSpc>
            </a:pPr>
            <a:r>
              <a:rPr lang="fa-IR" dirty="0">
                <a:cs typeface="B Nazanin" panose="00000400000000000000" pitchFamily="2" charset="-78"/>
              </a:rPr>
              <a:t>استاد راهنما:</a:t>
            </a:r>
          </a:p>
          <a:p>
            <a:pPr algn="ctr" rtl="1">
              <a:lnSpc>
                <a:spcPct val="120000"/>
              </a:lnSpc>
            </a:pPr>
            <a:r>
              <a:rPr lang="fa-IR" b="1" dirty="0">
                <a:cs typeface="B Nazanin" panose="00000400000000000000" pitchFamily="2" charset="-78"/>
              </a:rPr>
              <a:t>دکتر هادی خادمی</a:t>
            </a:r>
            <a:endParaRPr lang="en-US" b="1" dirty="0">
              <a:cs typeface="B Nazanin" panose="00000400000000000000" pitchFamily="2" charset="-78"/>
            </a:endParaRPr>
          </a:p>
        </p:txBody>
      </p:sp>
      <p:sp>
        <p:nvSpPr>
          <p:cNvPr id="17" name="Subtitle 4">
            <a:extLst>
              <a:ext uri="{FF2B5EF4-FFF2-40B4-BE49-F238E27FC236}">
                <a16:creationId xmlns:a16="http://schemas.microsoft.com/office/drawing/2014/main" id="{4E4851C8-640D-F6D4-ADF6-8A5A7361F112}"/>
              </a:ext>
            </a:extLst>
          </p:cNvPr>
          <p:cNvSpPr txBox="1">
            <a:spLocks/>
          </p:cNvSpPr>
          <p:nvPr/>
        </p:nvSpPr>
        <p:spPr>
          <a:xfrm>
            <a:off x="2268537" y="6333677"/>
            <a:ext cx="1995616" cy="4786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a-IR" dirty="0">
                <a:cs typeface="B Nazanin" panose="00000400000000000000" pitchFamily="2" charset="-78"/>
              </a:rPr>
              <a:t>بهمن‌ماه 1404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E1F824-5767-866E-41C5-597B673D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5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7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412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فهرست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43FF-A3B5-BDFD-A525-9FF1DFEC7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0" y="1742371"/>
            <a:ext cx="5181600" cy="435133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1. مقدمه و بیان مسئله</a:t>
            </a:r>
            <a:endParaRPr lang="en-US" sz="28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2. اهداف پروژه</a:t>
            </a:r>
          </a:p>
          <a:p>
            <a:pPr marL="0" indent="0" algn="r" rtl="1">
              <a:buNone/>
            </a:pPr>
            <a:r>
              <a:rPr lang="fa-IR" sz="2800" dirty="0">
                <a:cs typeface="B Nazanin" panose="00000400000000000000" pitchFamily="2" charset="-78"/>
              </a:rPr>
              <a:t>3. ابزارها و تکنولوژی‌های مورد استفاده</a:t>
            </a:r>
            <a:endParaRPr lang="en-US" sz="28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4. معماری </a:t>
            </a:r>
            <a:r>
              <a:rPr lang="fa-IR" sz="2800" dirty="0">
                <a:cs typeface="B Nazanin" panose="00000400000000000000" pitchFamily="2" charset="-78"/>
              </a:rPr>
              <a:t>سیستم</a:t>
            </a:r>
            <a:endParaRPr lang="en-US" sz="28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5. نمایش عملکرد ربات</a:t>
            </a:r>
          </a:p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6. بررسی ربات و پیشنهادات برای توسعه</a:t>
            </a:r>
          </a:p>
        </p:txBody>
      </p:sp>
    </p:spTree>
    <p:extLst>
      <p:ext uri="{BB962C8B-B14F-4D97-AF65-F5344CB8AC3E}">
        <p14:creationId xmlns:p14="http://schemas.microsoft.com/office/powerpoint/2010/main" val="362292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3F4BE-2B70-0042-34D9-0A513FB1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6705-7785-E75F-CEA9-260F560E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275" y="299312"/>
            <a:ext cx="6276974" cy="1507067"/>
          </a:xfrm>
        </p:spPr>
        <p:txBody>
          <a:bodyPr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مقدمه و بیان مسئله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2E53-FF37-E23C-1D54-4F41E3867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275" y="1806379"/>
            <a:ext cx="6281928" cy="4351338"/>
          </a:xfrm>
        </p:spPr>
        <p:txBody>
          <a:bodyPr>
            <a:normAutofit lnSpcReduction="10000"/>
          </a:bodyPr>
          <a:lstStyle/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مشکل</a:t>
            </a:r>
          </a:p>
          <a:p>
            <a:pPr marL="457200" lvl="1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مدیریت کارهای روزمره در دنیای پرمشغله امروز پیچیده است.</a:t>
            </a:r>
          </a:p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ابزارهای موجود</a:t>
            </a:r>
          </a:p>
          <a:p>
            <a:pPr marL="457200" lvl="1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اغلب نیازمند نصب نرم‌افزارهای جداگانه و یادگیری رابط‌های کاربری پیچیده هستند.</a:t>
            </a:r>
          </a:p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فرصت</a:t>
            </a:r>
            <a:endParaRPr lang="fa-IR" dirty="0"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تلگرام به عنوان یک پلتفرم محبوب و در دسترس، بستری ایده‌آل برای یک دستیار شخصی است.</a:t>
            </a:r>
          </a:p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راه حل</a:t>
            </a:r>
            <a:endParaRPr lang="fa-IR" dirty="0"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طراحی یک ربات تلگرامی هوشمند برای ساده‌سازی این امور.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C0B32-57E8-448A-A951-1FE0C9CF3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00"/>
          <a:stretch>
            <a:fillRect/>
          </a:stretch>
        </p:blipFill>
        <p:spPr>
          <a:xfrm>
            <a:off x="0" y="0"/>
            <a:ext cx="4800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3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B688-D01D-CE82-4F35-BF0325CC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D850-974B-FBAA-9BF0-EE527D13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02" y="288506"/>
            <a:ext cx="6025896" cy="1507067"/>
          </a:xfrm>
        </p:spPr>
        <p:txBody>
          <a:bodyPr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اهداف پروژه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64E9-5910-F6C4-9C42-825DA8FC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712272"/>
            <a:ext cx="6022848" cy="4351338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هدف اصلی: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طراحی و پیاده‌سازی یک ربات تلگرامی چندمنظوره با زبان پایتون</a:t>
            </a:r>
            <a:endParaRPr lang="fa-IR" dirty="0"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اهداف اختصاصی: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مدیریت یادآوری‌ها و لیست کارها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امکان ارسال ایمیل مستقیم از طریق ربات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بررسی بازه قیمت بلیط هواپیما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فراهم کردن یک رابط کاربری متنی، ساده و طبیعی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DC511-78D0-6EEE-93FA-0BEE40EF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048" y="0"/>
            <a:ext cx="5330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7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85228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معرفی ربات</a:t>
            </a:r>
            <a:endParaRPr lang="en-US" sz="4000" dirty="0">
              <a:cs typeface="B Nazanin" panose="00000400000000000000" pitchFamily="2" charset="-78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0CAC15-378E-DE84-4C06-8CCFC0182B3C}"/>
              </a:ext>
            </a:extLst>
          </p:cNvPr>
          <p:cNvGrpSpPr/>
          <p:nvPr/>
        </p:nvGrpSpPr>
        <p:grpSpPr>
          <a:xfrm>
            <a:off x="2015907" y="2811227"/>
            <a:ext cx="8160181" cy="1829511"/>
            <a:chOff x="2113850" y="2728476"/>
            <a:chExt cx="8160181" cy="182951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21E93B-484C-1696-B158-867FC41DFB96}"/>
                </a:ext>
              </a:extLst>
            </p:cNvPr>
            <p:cNvGrpSpPr/>
            <p:nvPr/>
          </p:nvGrpSpPr>
          <p:grpSpPr>
            <a:xfrm>
              <a:off x="6988525" y="2731032"/>
              <a:ext cx="3282950" cy="655812"/>
              <a:chOff x="6988525" y="2731032"/>
              <a:chExt cx="3282950" cy="655812"/>
            </a:xfrm>
          </p:grpSpPr>
          <p:pic>
            <p:nvPicPr>
              <p:cNvPr id="4" name="Content Placeholder 4" descr="Daily calendar with solid fill">
                <a:extLst>
                  <a:ext uri="{FF2B5EF4-FFF2-40B4-BE49-F238E27FC236}">
                    <a16:creationId xmlns:a16="http://schemas.microsoft.com/office/drawing/2014/main" id="{B6538FD5-2DE0-9428-DA91-E282FAA4B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615663" y="2731032"/>
                <a:ext cx="655812" cy="65581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C676E0-636C-B551-2F7D-60B2C0760D5D}"/>
                  </a:ext>
                </a:extLst>
              </p:cNvPr>
              <p:cNvSpPr txBox="1"/>
              <p:nvPr/>
            </p:nvSpPr>
            <p:spPr>
              <a:xfrm>
                <a:off x="6988525" y="2826827"/>
                <a:ext cx="30896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r" rtl="1"/>
                <a:r>
                  <a:rPr lang="fa-IR" sz="2400" dirty="0">
                    <a:cs typeface="B Nazanin" panose="00000400000000000000" pitchFamily="2" charset="-78"/>
                  </a:rPr>
                  <a:t>ثبت و مدیریت یادآورها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F1A2512-5EF3-FFDC-CB7A-BA7483D10BDC}"/>
                </a:ext>
              </a:extLst>
            </p:cNvPr>
            <p:cNvGrpSpPr/>
            <p:nvPr/>
          </p:nvGrpSpPr>
          <p:grpSpPr>
            <a:xfrm>
              <a:off x="6715125" y="3899619"/>
              <a:ext cx="3558906" cy="658368"/>
              <a:chOff x="6715125" y="3899619"/>
              <a:chExt cx="3558906" cy="658368"/>
            </a:xfrm>
          </p:grpSpPr>
          <p:pic>
            <p:nvPicPr>
              <p:cNvPr id="6" name="Graphic 5" descr="List with solid fill">
                <a:extLst>
                  <a:ext uri="{FF2B5EF4-FFF2-40B4-BE49-F238E27FC236}">
                    <a16:creationId xmlns:a16="http://schemas.microsoft.com/office/drawing/2014/main" id="{3C702FFA-ABFE-0E0C-E93D-AEEDA33B5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15663" y="3899619"/>
                <a:ext cx="658368" cy="658368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86978-3CD6-FCE9-A23E-657FDCD40823}"/>
                  </a:ext>
                </a:extLst>
              </p:cNvPr>
              <p:cNvSpPr txBox="1"/>
              <p:nvPr/>
            </p:nvSpPr>
            <p:spPr>
              <a:xfrm>
                <a:off x="6715125" y="3997970"/>
                <a:ext cx="2985293" cy="46166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 rtl="1"/>
                <a:r>
                  <a:rPr lang="fa-IR" sz="2400" dirty="0">
                    <a:cs typeface="B Nazanin" panose="00000400000000000000" pitchFamily="2" charset="-78"/>
                  </a:rPr>
                  <a:t>ساخت و ویرایش لیست کارها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8DB484A-C01C-A2B9-3DCD-EE39933CFC35}"/>
                </a:ext>
              </a:extLst>
            </p:cNvPr>
            <p:cNvGrpSpPr/>
            <p:nvPr/>
          </p:nvGrpSpPr>
          <p:grpSpPr>
            <a:xfrm>
              <a:off x="2113850" y="2728476"/>
              <a:ext cx="4123844" cy="658368"/>
              <a:chOff x="2113850" y="2728476"/>
              <a:chExt cx="4123844" cy="658368"/>
            </a:xfrm>
          </p:grpSpPr>
          <p:pic>
            <p:nvPicPr>
              <p:cNvPr id="5" name="Graphic 4" descr="Email with solid fill">
                <a:extLst>
                  <a:ext uri="{FF2B5EF4-FFF2-40B4-BE49-F238E27FC236}">
                    <a16:creationId xmlns:a16="http://schemas.microsoft.com/office/drawing/2014/main" id="{D1E3D865-6A9F-4D63-59C5-91C7BD7D5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579326" y="2728476"/>
                <a:ext cx="658368" cy="658368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1838E1-DCF3-8701-2643-9462DE5B9701}"/>
                  </a:ext>
                </a:extLst>
              </p:cNvPr>
              <p:cNvSpPr txBox="1"/>
              <p:nvPr/>
            </p:nvSpPr>
            <p:spPr>
              <a:xfrm>
                <a:off x="2113850" y="2826827"/>
                <a:ext cx="3422732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rtl="1"/>
                <a:r>
                  <a:rPr lang="fa-IR" sz="2400" dirty="0">
                    <a:cs typeface="B Nazanin" panose="00000400000000000000" pitchFamily="2" charset="-78"/>
                  </a:rPr>
                  <a:t>ارسال ایمیل به آدرس‌های مشخص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D9B20A-5DB1-B501-D177-3F66684BD1F1}"/>
                </a:ext>
              </a:extLst>
            </p:cNvPr>
            <p:cNvGrpSpPr/>
            <p:nvPr/>
          </p:nvGrpSpPr>
          <p:grpSpPr>
            <a:xfrm>
              <a:off x="2886498" y="3899619"/>
              <a:ext cx="3351196" cy="658368"/>
              <a:chOff x="2886498" y="3899619"/>
              <a:chExt cx="3351196" cy="658368"/>
            </a:xfrm>
          </p:grpSpPr>
          <p:pic>
            <p:nvPicPr>
              <p:cNvPr id="7" name="Graphic 6" descr="Airplane with solid fill">
                <a:extLst>
                  <a:ext uri="{FF2B5EF4-FFF2-40B4-BE49-F238E27FC236}">
                    <a16:creationId xmlns:a16="http://schemas.microsoft.com/office/drawing/2014/main" id="{CC12AA2A-FE3B-3957-662B-1ED37930C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579326" y="3899619"/>
                <a:ext cx="658368" cy="658368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6C7FE0-57F4-5ACE-8FBB-5C92E0A1C62B}"/>
                  </a:ext>
                </a:extLst>
              </p:cNvPr>
              <p:cNvSpPr txBox="1"/>
              <p:nvPr/>
            </p:nvSpPr>
            <p:spPr>
              <a:xfrm>
                <a:off x="2886498" y="3997970"/>
                <a:ext cx="2650084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 rtl="1"/>
                <a:r>
                  <a:rPr lang="fa-IR" sz="2400" dirty="0">
                    <a:cs typeface="B Nazanin" panose="00000400000000000000" pitchFamily="2" charset="-78"/>
                  </a:rPr>
                  <a:t>نمایش قیمت بلیط هواپیما</a:t>
                </a: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DEF3A67-8E18-DCE9-633D-4914AF5736C5}"/>
              </a:ext>
            </a:extLst>
          </p:cNvPr>
          <p:cNvSpPr txBox="1"/>
          <p:nvPr/>
        </p:nvSpPr>
        <p:spPr>
          <a:xfrm>
            <a:off x="3891276" y="1304160"/>
            <a:ext cx="7467109" cy="4924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rtl="1"/>
            <a:r>
              <a:rPr lang="fa-IR" sz="2600" dirty="0">
                <a:cs typeface="B Nazanin" panose="00000400000000000000" pitchFamily="2" charset="-78"/>
              </a:rPr>
              <a:t>یک ربات تلگرامی به نام ریکاردو که نقش دستیار دیجیتال را ایفا می‌کند.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1DF200-9413-960F-9546-731D3DF67629}"/>
              </a:ext>
            </a:extLst>
          </p:cNvPr>
          <p:cNvSpPr txBox="1"/>
          <p:nvPr/>
        </p:nvSpPr>
        <p:spPr>
          <a:xfrm>
            <a:off x="5088351" y="1973183"/>
            <a:ext cx="2015295" cy="4924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rtl="1"/>
            <a:r>
              <a:rPr lang="fa-IR" sz="2600" dirty="0">
                <a:cs typeface="B Nazanin" panose="00000400000000000000" pitchFamily="2" charset="-78"/>
              </a:rPr>
              <a:t>قابلیت‌های کلیدی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5BC12D-2890-7278-F9F1-78B78DB9D217}"/>
              </a:ext>
            </a:extLst>
          </p:cNvPr>
          <p:cNvGrpSpPr/>
          <p:nvPr/>
        </p:nvGrpSpPr>
        <p:grpSpPr>
          <a:xfrm>
            <a:off x="3580759" y="5084690"/>
            <a:ext cx="5030477" cy="658368"/>
            <a:chOff x="3909946" y="4986338"/>
            <a:chExt cx="5030477" cy="658368"/>
          </a:xfrm>
        </p:grpSpPr>
        <p:pic>
          <p:nvPicPr>
            <p:cNvPr id="22" name="Graphic 21" descr="Speech with solid fill">
              <a:extLst>
                <a:ext uri="{FF2B5EF4-FFF2-40B4-BE49-F238E27FC236}">
                  <a16:creationId xmlns:a16="http://schemas.microsoft.com/office/drawing/2014/main" id="{CBCD802C-8BBD-2B0D-A711-74802AD68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82055" y="4986338"/>
              <a:ext cx="658368" cy="65836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B3FC2B-9F98-B446-D331-F88620BBB7BA}"/>
                </a:ext>
              </a:extLst>
            </p:cNvPr>
            <p:cNvSpPr txBox="1"/>
            <p:nvPr/>
          </p:nvSpPr>
          <p:spPr>
            <a:xfrm>
              <a:off x="3909946" y="5021031"/>
              <a:ext cx="4823757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lvl="1" algn="ctr" rtl="1"/>
              <a:r>
                <a:rPr lang="fa-IR" sz="2400" dirty="0">
                  <a:cs typeface="B Nazanin" panose="00000400000000000000" pitchFamily="2" charset="-78"/>
                </a:rPr>
                <a:t>تعامل از طریق زبان طبیعی و محاوره‌ای کاربر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4912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1D38-0C89-6D33-1E30-4585FEA7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1401-2E04-883F-8A2A-F6BEC0E7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72820"/>
            <a:ext cx="8534400" cy="1507067"/>
          </a:xfrm>
        </p:spPr>
        <p:txBody>
          <a:bodyPr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ابزارها و تکنولوژی‌های مورد استفاده</a:t>
            </a:r>
            <a:endParaRPr lang="en-US" dirty="0">
              <a:cs typeface="B Nazanin" panose="00000400000000000000" pitchFamily="2" charset="-78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04F6EC0-7875-268D-3134-9AE3EC707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26413"/>
              </p:ext>
            </p:extLst>
          </p:nvPr>
        </p:nvGraphicFramePr>
        <p:xfrm>
          <a:off x="1431739" y="1347896"/>
          <a:ext cx="8654092" cy="5172692"/>
        </p:xfrm>
        <a:graphic>
          <a:graphicData uri="http://schemas.openxmlformats.org/drawingml/2006/table">
            <a:tbl>
              <a:tblPr rtl="1" firstRow="1" firstCol="1" bandRow="1">
                <a:tableStyleId>{5940675A-B579-460E-94D1-54222C63F5DA}</a:tableStyleId>
              </a:tblPr>
              <a:tblGrid>
                <a:gridCol w="4327046">
                  <a:extLst>
                    <a:ext uri="{9D8B030D-6E8A-4147-A177-3AD203B41FA5}">
                      <a16:colId xmlns:a16="http://schemas.microsoft.com/office/drawing/2014/main" val="808339767"/>
                    </a:ext>
                  </a:extLst>
                </a:gridCol>
                <a:gridCol w="4327046">
                  <a:extLst>
                    <a:ext uri="{9D8B030D-6E8A-4147-A177-3AD203B41FA5}">
                      <a16:colId xmlns:a16="http://schemas.microsoft.com/office/drawing/2014/main" val="4094391697"/>
                    </a:ext>
                  </a:extLst>
                </a:gridCol>
              </a:tblGrid>
              <a:tr h="4012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b="1" dirty="0">
                          <a:effectLst/>
                          <a:cs typeface="B Nazanin" panose="00000400000000000000" pitchFamily="2" charset="-78"/>
                        </a:rPr>
                        <a:t>کاربرد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b="1" dirty="0">
                          <a:effectLst/>
                          <a:cs typeface="B Nazanin" panose="00000400000000000000" pitchFamily="2" charset="-78"/>
                        </a:rPr>
                        <a:t>ابزار / تکنولوژی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47189"/>
                  </a:ext>
                </a:extLst>
              </a:tr>
              <a:tr h="39360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dirty="0">
                          <a:effectLst/>
                          <a:cs typeface="B Nazanin" panose="00000400000000000000" pitchFamily="2" charset="-78"/>
                        </a:rPr>
                        <a:t>زبان برنامه‌نویسی اصلی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85236"/>
                  </a:ext>
                </a:extLst>
              </a:tr>
              <a:tr h="4012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dirty="0">
                          <a:effectLst/>
                          <a:cs typeface="B Nazanin" panose="00000400000000000000" pitchFamily="2" charset="-78"/>
                        </a:rPr>
                        <a:t>خواندن اطلاعات از فایل </a:t>
                      </a:r>
                      <a:r>
                        <a:rPr lang="en-US" sz="1800" dirty="0">
                          <a:effectLst/>
                          <a:cs typeface="B Nazanin" panose="00000400000000000000" pitchFamily="2" charset="-78"/>
                        </a:rPr>
                        <a:t>env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python-decouple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01318"/>
                  </a:ext>
                </a:extLst>
              </a:tr>
              <a:tr h="39360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dirty="0">
                          <a:effectLst/>
                          <a:cs typeface="B Nazanin" panose="00000400000000000000" pitchFamily="2" charset="-78"/>
                        </a:rPr>
                        <a:t>ایجاد و مدیریت ربات تلگرامی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python-telegram-bot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40603"/>
                  </a:ext>
                </a:extLst>
              </a:tr>
              <a:tr h="4012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dirty="0">
                          <a:effectLst/>
                          <a:cs typeface="B Nazanin" panose="00000400000000000000" pitchFamily="2" charset="-78"/>
                        </a:rPr>
                        <a:t>ذخیره‌سازی داده‌های کاربران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SQLite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720768"/>
                  </a:ext>
                </a:extLst>
              </a:tr>
              <a:tr h="39360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 dirty="0">
                          <a:effectLst/>
                          <a:cs typeface="B Nazanin" panose="00000400000000000000" pitchFamily="2" charset="-78"/>
                        </a:rPr>
                        <a:t>ارسال ایمیل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smtplib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email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45690"/>
                  </a:ext>
                </a:extLst>
              </a:tr>
              <a:tr h="79609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استفاده از رجکس برای تشخیص ایمیل‌ها در متن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 (regex)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309933"/>
                  </a:ext>
                </a:extLst>
              </a:tr>
              <a:tr h="79609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پردازش زبان طبیعی کاربران با استفاده از </a:t>
                      </a:r>
                      <a:r>
                        <a:rPr lang="en-US" sz="1800">
                          <a:effectLst/>
                          <a:cs typeface="B Nazanin" panose="00000400000000000000" pitchFamily="2" charset="-78"/>
                        </a:rPr>
                        <a:t>API</a:t>
                      </a: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 هوش مصنوعی </a:t>
                      </a:r>
                      <a:r>
                        <a:rPr lang="en-US" sz="1800">
                          <a:effectLst/>
                          <a:cs typeface="B Nazanin" panose="00000400000000000000" pitchFamily="2" charset="-78"/>
                        </a:rPr>
                        <a:t>Gemini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google-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generativeai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828908"/>
                  </a:ext>
                </a:extLst>
              </a:tr>
              <a:tr h="4012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دریافت اطلاعات قیمت بلیط با </a:t>
                      </a:r>
                      <a:r>
                        <a:rPr lang="en-US" sz="1800">
                          <a:effectLst/>
                          <a:cs typeface="B Nazanin" panose="00000400000000000000" pitchFamily="2" charset="-78"/>
                        </a:rPr>
                        <a:t>API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requests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49041"/>
                  </a:ext>
                </a:extLst>
              </a:tr>
              <a:tr h="39360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تبدیل رشته به آبجکت زمان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datetime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401849"/>
                  </a:ext>
                </a:extLst>
              </a:tr>
              <a:tr h="40122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a-IR" sz="1800">
                          <a:effectLst/>
                          <a:cs typeface="B Nazanin" panose="00000400000000000000" pitchFamily="2" charset="-78"/>
                        </a:rPr>
                        <a:t>تبدیل تاریخ میلادی به شمسی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B Nazanin" panose="00000400000000000000" pitchFamily="2" charset="-78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jdatetime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945" marR="46945" marT="0" marB="0"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0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932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B688-D01D-CE82-4F35-BF0325CC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D850-974B-FBAA-9BF0-EE527D13E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01257"/>
            <a:ext cx="8534400" cy="1507067"/>
          </a:xfrm>
        </p:spPr>
        <p:txBody>
          <a:bodyPr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معماری سیستم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64E9-5910-F6C4-9C42-825DA8FC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292517"/>
            <a:ext cx="10594848" cy="3094756"/>
          </a:xfrm>
        </p:spPr>
        <p:txBody>
          <a:bodyPr/>
          <a:lstStyle/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طراحی ماژولار برای توسعه‌پذیری آسان</a:t>
            </a:r>
          </a:p>
          <a:p>
            <a:pPr marL="0" indent="0" algn="r" rtl="1">
              <a:buNone/>
            </a:pP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سه بخش اصلی: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مدیریت تعامل با کاربر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پردازش زبان طبیعی (</a:t>
            </a:r>
            <a:r>
              <a:rPr lang="en-US" dirty="0">
                <a:solidFill>
                  <a:schemeClr val="tx1"/>
                </a:solidFill>
                <a:cs typeface="B Nazanin" panose="00000400000000000000" pitchFamily="2" charset="-78"/>
              </a:rPr>
              <a:t>NLP</a:t>
            </a: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)</a:t>
            </a:r>
          </a:p>
          <a:p>
            <a:pPr lvl="1" algn="r" rtl="1"/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منطق وظایف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859342-9467-D1DB-4A9F-CD70590890C1}"/>
              </a:ext>
            </a:extLst>
          </p:cNvPr>
          <p:cNvGrpSpPr/>
          <p:nvPr/>
        </p:nvGrpSpPr>
        <p:grpSpPr>
          <a:xfrm>
            <a:off x="466344" y="4921182"/>
            <a:ext cx="10968228" cy="879588"/>
            <a:chOff x="429768" y="4090653"/>
            <a:chExt cx="10968228" cy="87958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7A2FD12-6E3C-2BFD-0209-16B33DFE2B88}"/>
                </a:ext>
              </a:extLst>
            </p:cNvPr>
            <p:cNvSpPr/>
            <p:nvPr/>
          </p:nvSpPr>
          <p:spPr>
            <a:xfrm>
              <a:off x="9349740" y="4090654"/>
              <a:ext cx="2048256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کاربر تلگرام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C703A87-E9C2-B496-8D63-6393B6B0D830}"/>
                </a:ext>
              </a:extLst>
            </p:cNvPr>
            <p:cNvSpPr/>
            <p:nvPr/>
          </p:nvSpPr>
          <p:spPr>
            <a:xfrm>
              <a:off x="6617971" y="4090654"/>
              <a:ext cx="2331720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مدیریت تعامل با کاربر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5F0F1E4-D2A5-E095-52F8-4D6D9DA46A29}"/>
                </a:ext>
              </a:extLst>
            </p:cNvPr>
            <p:cNvSpPr/>
            <p:nvPr/>
          </p:nvSpPr>
          <p:spPr>
            <a:xfrm>
              <a:off x="3657603" y="4090653"/>
              <a:ext cx="2554220" cy="87958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پردازش زبان طبیعی</a:t>
              </a:r>
              <a:endParaRPr lang="en-US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286001C-E6C2-6BBD-434A-72486B4742C0}"/>
                </a:ext>
              </a:extLst>
            </p:cNvPr>
            <p:cNvSpPr/>
            <p:nvPr/>
          </p:nvSpPr>
          <p:spPr>
            <a:xfrm>
              <a:off x="429768" y="4090654"/>
              <a:ext cx="2816352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منطق وظایف (هسته عملکردی)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065331D-E814-5E48-1227-18F5E949CC9E}"/>
                </a:ext>
              </a:extLst>
            </p:cNvPr>
            <p:cNvCxnSpPr>
              <a:cxnSpLocks/>
              <a:stCxn id="5" idx="1"/>
              <a:endCxn id="7" idx="3"/>
            </p:cNvCxnSpPr>
            <p:nvPr/>
          </p:nvCxnSpPr>
          <p:spPr>
            <a:xfrm flipH="1">
              <a:off x="8949691" y="4530448"/>
              <a:ext cx="400049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C8A591-8360-0345-C7DE-84D0C918DFC0}"/>
                </a:ext>
              </a:extLst>
            </p:cNvPr>
            <p:cNvCxnSpPr>
              <a:stCxn id="7" idx="1"/>
              <a:endCxn id="8" idx="3"/>
            </p:cNvCxnSpPr>
            <p:nvPr/>
          </p:nvCxnSpPr>
          <p:spPr>
            <a:xfrm flipH="1" flipV="1">
              <a:off x="6211823" y="4530447"/>
              <a:ext cx="406148" cy="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1BECE1C-B1F1-3080-4E4B-D0808645E6A7}"/>
                </a:ext>
              </a:extLst>
            </p:cNvPr>
            <p:cNvCxnSpPr>
              <a:cxnSpLocks/>
              <a:stCxn id="8" idx="1"/>
              <a:endCxn id="9" idx="3"/>
            </p:cNvCxnSpPr>
            <p:nvPr/>
          </p:nvCxnSpPr>
          <p:spPr>
            <a:xfrm flipH="1">
              <a:off x="3246120" y="4530447"/>
              <a:ext cx="411483" cy="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8956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55884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قلب تپنده پروژه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43FF-A3B5-BDFD-A525-9FF1DFEC7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871"/>
            <a:ext cx="10515600" cy="3269511"/>
          </a:xfrm>
        </p:spPr>
        <p:txBody>
          <a:bodyPr>
            <a:normAutofit fontScale="85000" lnSpcReduction="20000"/>
          </a:bodyPr>
          <a:lstStyle/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چرا </a:t>
            </a:r>
            <a:r>
              <a:rPr lang="en-US" sz="2800" dirty="0">
                <a:solidFill>
                  <a:schemeClr val="tx1"/>
                </a:solidFill>
                <a:cs typeface="B Nazanin" panose="00000400000000000000" pitchFamily="2" charset="-78"/>
              </a:rPr>
              <a:t>NLP؟ </a:t>
            </a:r>
            <a:endParaRPr lang="fa-IR" sz="28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برای فاصله گرفتن از دکمه‌ها و دستورات ثابت و حرکت به سمت یک تجربه انسانی‌تر</a:t>
            </a:r>
          </a:p>
          <a:p>
            <a:pPr marL="457200" lvl="1" indent="0" algn="r" rtl="1">
              <a:buNone/>
            </a:pPr>
            <a:endParaRPr lang="fa-IR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800" dirty="0">
                <a:solidFill>
                  <a:schemeClr val="tx1"/>
                </a:solidFill>
                <a:cs typeface="B Nazanin" panose="00000400000000000000" pitchFamily="2" charset="-78"/>
              </a:rPr>
              <a:t>فرآیند کار:</a:t>
            </a:r>
          </a:p>
          <a:p>
            <a:pPr lvl="1" algn="r" rtl="1"/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کاربر پیام را به زبان طبیعی ارسال می‌کند. برای مثال: "فردا ساعت ۹ یادم بنداز به استادم ایمیل بزنم."</a:t>
            </a:r>
          </a:p>
          <a:p>
            <a:pPr lvl="1" algn="r" rtl="1"/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ربات پیام را به 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API</a:t>
            </a: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 هوش مصنوعی </a:t>
            </a:r>
            <a:r>
              <a:rPr lang="fa-IR" sz="2400" dirty="0">
                <a:cs typeface="B Nazanin" panose="00000400000000000000" pitchFamily="2" charset="-78"/>
              </a:rPr>
              <a:t>(</a:t>
            </a:r>
            <a:r>
              <a:rPr lang="en-US" sz="2400" dirty="0">
                <a:cs typeface="B Nazanin" panose="00000400000000000000" pitchFamily="2" charset="-78"/>
              </a:rPr>
              <a:t>Gemini</a:t>
            </a:r>
            <a:r>
              <a:rPr lang="fa-IR" sz="2400" dirty="0">
                <a:cs typeface="B Nazanin" panose="00000400000000000000" pitchFamily="2" charset="-78"/>
              </a:rPr>
              <a:t>) </a:t>
            </a: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ارسال می‌کند.</a:t>
            </a:r>
            <a:endParaRPr lang="en-US" sz="2400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lvl="1" algn="r" rtl="1"/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هوش مصنوعی متن را تحلیل کرده و یک متن به فرمت 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JSON</a:t>
            </a: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 برمی‌گرداند.</a:t>
            </a:r>
          </a:p>
          <a:p>
            <a:pPr lvl="1" algn="r" rtl="1"/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ربات</a:t>
            </a:r>
            <a:r>
              <a:rPr lang="fa-IR" sz="2400" dirty="0">
                <a:cs typeface="B Nazanin" panose="00000400000000000000" pitchFamily="2" charset="-78"/>
              </a:rPr>
              <a:t> متن را به دیکشنری تبدیل می‌کند و طبق آن</a:t>
            </a:r>
            <a:r>
              <a:rPr lang="en-US" sz="2400" dirty="0">
                <a:solidFill>
                  <a:schemeClr val="tx1"/>
                </a:solidFill>
                <a:cs typeface="B Nazanin" panose="00000400000000000000" pitchFamily="2" charset="-78"/>
              </a:rPr>
              <a:t> </a:t>
            </a:r>
            <a:r>
              <a:rPr lang="fa-IR" sz="2400" dirty="0">
                <a:solidFill>
                  <a:schemeClr val="tx1"/>
                </a:solidFill>
                <a:cs typeface="B Nazanin" panose="00000400000000000000" pitchFamily="2" charset="-78"/>
              </a:rPr>
              <a:t>ماژول مربوطه را اجرا می‌کند.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E37892-C3A5-AC50-A517-CEF57DA299DD}"/>
              </a:ext>
            </a:extLst>
          </p:cNvPr>
          <p:cNvGrpSpPr/>
          <p:nvPr/>
        </p:nvGrpSpPr>
        <p:grpSpPr>
          <a:xfrm>
            <a:off x="466344" y="4921182"/>
            <a:ext cx="10968228" cy="879588"/>
            <a:chOff x="429768" y="4090653"/>
            <a:chExt cx="10968228" cy="87958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DF7DB55-41B7-8E99-058C-1B0BD0FB883F}"/>
                </a:ext>
              </a:extLst>
            </p:cNvPr>
            <p:cNvSpPr/>
            <p:nvPr/>
          </p:nvSpPr>
          <p:spPr>
            <a:xfrm>
              <a:off x="9349740" y="4090654"/>
              <a:ext cx="2048256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ارسال پیام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C6DC45-F473-2CF5-2542-CAD6E81F93E6}"/>
                </a:ext>
              </a:extLst>
            </p:cNvPr>
            <p:cNvSpPr/>
            <p:nvPr/>
          </p:nvSpPr>
          <p:spPr>
            <a:xfrm>
              <a:off x="6473955" y="4090654"/>
              <a:ext cx="2475736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ارسال به هوش مصنوعی با </a:t>
              </a:r>
              <a:r>
                <a:rPr lang="en-US" dirty="0">
                  <a:solidFill>
                    <a:schemeClr val="tx1"/>
                  </a:solidFill>
                  <a:cs typeface="B Nazanin" panose="00000400000000000000" pitchFamily="2" charset="-78"/>
                </a:rPr>
                <a:t>API</a:t>
              </a:r>
              <a:endParaRPr lang="fa-IR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AC737A-372E-0C62-C362-DAD1553EC87E}"/>
                </a:ext>
              </a:extLst>
            </p:cNvPr>
            <p:cNvSpPr/>
            <p:nvPr/>
          </p:nvSpPr>
          <p:spPr>
            <a:xfrm>
              <a:off x="2931183" y="4090653"/>
              <a:ext cx="3128242" cy="87958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پردازش با هوش مصنوعی و درست کردن فرمت </a:t>
              </a:r>
              <a:r>
                <a:rPr lang="en-US" dirty="0">
                  <a:solidFill>
                    <a:schemeClr val="tx1"/>
                  </a:solidFill>
                  <a:cs typeface="B Nazanin" panose="00000400000000000000" pitchFamily="2" charset="-78"/>
                </a:rPr>
                <a:t>JSON</a:t>
              </a:r>
              <a:endParaRPr lang="fa-IR" dirty="0">
                <a:solidFill>
                  <a:schemeClr val="tx1"/>
                </a:solidFill>
                <a:cs typeface="B Nazanin" panose="00000400000000000000" pitchFamily="2" charset="-78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B68D31E-7A42-E254-7383-04DEC5588147}"/>
                </a:ext>
              </a:extLst>
            </p:cNvPr>
            <p:cNvSpPr/>
            <p:nvPr/>
          </p:nvSpPr>
          <p:spPr>
            <a:xfrm>
              <a:off x="429768" y="4090654"/>
              <a:ext cx="2101365" cy="879587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5"/>
            </a:lnRef>
            <a:fillRef idx="1003">
              <a:schemeClr val="dk2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fa-IR" dirty="0">
                  <a:solidFill>
                    <a:schemeClr val="tx1"/>
                  </a:solidFill>
                  <a:cs typeface="B Nazanin" panose="00000400000000000000" pitchFamily="2" charset="-78"/>
                </a:rPr>
                <a:t>اجرا ماژول مربوطه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EC35B90-F37E-51C8-9F84-5B3E9FCE3126}"/>
                </a:ext>
              </a:extLst>
            </p:cNvPr>
            <p:cNvCxnSpPr>
              <a:cxnSpLocks/>
              <a:stCxn id="5" idx="1"/>
              <a:endCxn id="6" idx="3"/>
            </p:cNvCxnSpPr>
            <p:nvPr/>
          </p:nvCxnSpPr>
          <p:spPr>
            <a:xfrm flipH="1">
              <a:off x="8949691" y="4530448"/>
              <a:ext cx="400049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F4EA1F-E776-672A-0467-FB91F1572CD0}"/>
                </a:ext>
              </a:extLst>
            </p:cNvPr>
            <p:cNvCxnSpPr>
              <a:cxnSpLocks/>
              <a:stCxn id="6" idx="1"/>
              <a:endCxn id="7" idx="3"/>
            </p:cNvCxnSpPr>
            <p:nvPr/>
          </p:nvCxnSpPr>
          <p:spPr>
            <a:xfrm flipH="1" flipV="1">
              <a:off x="6059425" y="4530447"/>
              <a:ext cx="414530" cy="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069C445-2274-85A5-A374-DEB0DA8F4583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flipH="1">
              <a:off x="2531133" y="4530447"/>
              <a:ext cx="400050" cy="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268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412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نمایش عملکرد ربات</a:t>
            </a:r>
            <a:br>
              <a:rPr lang="en-US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یادآوری</a:t>
            </a:r>
            <a:endParaRPr lang="en-US" sz="4000" dirty="0">
              <a:cs typeface="B Nazanin" panose="00000400000000000000" pitchFamily="2" charset="-78"/>
            </a:endParaRPr>
          </a:p>
        </p:txBody>
      </p:sp>
      <p:pic>
        <p:nvPicPr>
          <p:cNvPr id="14" name="robot_reminder">
            <a:hlinkClick r:id="" action="ppaction://media"/>
            <a:extLst>
              <a:ext uri="{FF2B5EF4-FFF2-40B4-BE49-F238E27FC236}">
                <a16:creationId xmlns:a16="http://schemas.microsoft.com/office/drawing/2014/main" id="{7716CDD7-B07D-078A-CE2B-DAB7494D58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22625" y="1844479"/>
            <a:ext cx="5746750" cy="48349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1992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89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412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نمایش عملکرد ربات</a:t>
            </a:r>
            <a:br>
              <a:rPr lang="en-US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لیست‌کارها</a:t>
            </a:r>
            <a:endParaRPr lang="en-US" sz="4000" dirty="0">
              <a:cs typeface="B Nazanin" panose="00000400000000000000" pitchFamily="2" charset="-78"/>
            </a:endParaRPr>
          </a:p>
        </p:txBody>
      </p:sp>
      <p:pic>
        <p:nvPicPr>
          <p:cNvPr id="16" name="robot_todolist">
            <a:hlinkClick r:id="" action="ppaction://media"/>
            <a:extLst>
              <a:ext uri="{FF2B5EF4-FFF2-40B4-BE49-F238E27FC236}">
                <a16:creationId xmlns:a16="http://schemas.microsoft.com/office/drawing/2014/main" id="{217138A5-191F-5722-12DC-9A19464E7D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3220212" y="1844479"/>
            <a:ext cx="5751576" cy="483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907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76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412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نمایش عملکرد ربات</a:t>
            </a:r>
            <a:br>
              <a:rPr lang="en-US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ارسال ایمیل</a:t>
            </a:r>
            <a:endParaRPr lang="en-US" sz="4000" dirty="0">
              <a:cs typeface="B Nazanin" panose="00000400000000000000" pitchFamily="2" charset="-78"/>
            </a:endParaRPr>
          </a:p>
        </p:txBody>
      </p:sp>
      <p:pic>
        <p:nvPicPr>
          <p:cNvPr id="3" name="robot_email">
            <a:hlinkClick r:id="" action="ppaction://media"/>
            <a:extLst>
              <a:ext uri="{FF2B5EF4-FFF2-40B4-BE49-F238E27FC236}">
                <a16:creationId xmlns:a16="http://schemas.microsoft.com/office/drawing/2014/main" id="{E58B65ED-B9F0-C4C4-0C28-CB6A58E9A5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" r="1"/>
          <a:stretch>
            <a:fillRect/>
          </a:stretch>
        </p:blipFill>
        <p:spPr>
          <a:xfrm>
            <a:off x="3220212" y="1844479"/>
            <a:ext cx="5751576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9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412"/>
            <a:ext cx="8534400" cy="1507067"/>
          </a:xfrm>
        </p:spPr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نمایش عملکرد ربات</a:t>
            </a:r>
            <a:br>
              <a:rPr lang="en-US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بلیط هواپیما</a:t>
            </a:r>
            <a:endParaRPr lang="en-US" sz="4000" dirty="0">
              <a:cs typeface="B Nazanin" panose="00000400000000000000" pitchFamily="2" charset="-78"/>
            </a:endParaRPr>
          </a:p>
        </p:txBody>
      </p:sp>
      <p:pic>
        <p:nvPicPr>
          <p:cNvPr id="4" name="robot_ticket">
            <a:hlinkClick r:id="" action="ppaction://media"/>
            <a:extLst>
              <a:ext uri="{FF2B5EF4-FFF2-40B4-BE49-F238E27FC236}">
                <a16:creationId xmlns:a16="http://schemas.microsoft.com/office/drawing/2014/main" id="{F0F05997-9824-0F42-B5D2-9C5A248063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" r="1"/>
          <a:stretch>
            <a:fillRect/>
          </a:stretch>
        </p:blipFill>
        <p:spPr>
          <a:xfrm>
            <a:off x="3218688" y="1847088"/>
            <a:ext cx="5751576" cy="4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4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19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بررسی ربات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96C50-1432-09B9-6920-7A2DF9177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محدودیت‌ها و چالش‌ها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43FF-A3B5-BDFD-A525-9FF1DFEC7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63009" y="3073397"/>
            <a:ext cx="2463801" cy="2154964"/>
          </a:xfrm>
        </p:spPr>
        <p:txBody>
          <a:bodyPr>
            <a:normAutofit fontScale="70000" lnSpcReduction="20000"/>
          </a:bodyPr>
          <a:lstStyle/>
          <a:p>
            <a:pPr algn="r" rtl="1"/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وابستگی به </a:t>
            </a:r>
            <a:r>
              <a:rPr lang="en-US" b="1" dirty="0">
                <a:solidFill>
                  <a:schemeClr val="tx1"/>
                </a:solidFill>
                <a:cs typeface="B Nazanin" panose="00000400000000000000" pitchFamily="2" charset="-78"/>
              </a:rPr>
              <a:t>API</a:t>
            </a:r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ها</a:t>
            </a:r>
          </a:p>
          <a:p>
            <a:pPr marL="457200" lvl="1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هوش مصنوعی برای </a:t>
            </a:r>
            <a:r>
              <a:rPr lang="en-US" dirty="0">
                <a:cs typeface="B Nazanin" panose="00000400000000000000" pitchFamily="2" charset="-78"/>
              </a:rPr>
              <a:t>NLP</a:t>
            </a:r>
            <a:endParaRPr lang="fa-IR" dirty="0"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r>
              <a:rPr lang="fa-IR" dirty="0">
                <a:solidFill>
                  <a:schemeClr val="tx1"/>
                </a:solidFill>
                <a:cs typeface="B Nazanin" panose="00000400000000000000" pitchFamily="2" charset="-78"/>
              </a:rPr>
              <a:t>بلیط های هواپیمایی</a:t>
            </a:r>
          </a:p>
          <a:p>
            <a:pPr lvl="1" algn="r" rtl="1"/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خطا در </a:t>
            </a:r>
            <a:r>
              <a:rPr lang="en-US" b="1" dirty="0">
                <a:cs typeface="B Nazanin" panose="00000400000000000000" pitchFamily="2" charset="-78"/>
              </a:rPr>
              <a:t>NLP</a:t>
            </a: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solidFill>
                  <a:schemeClr val="tx1"/>
                </a:solidFill>
                <a:cs typeface="B Nazanin" panose="00000400000000000000" pitchFamily="2" charset="-78"/>
              </a:rPr>
              <a:t>تنظیمات سرور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E9102-1851-5ED0-A2FB-772B66140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نقاط قوت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28947-8578-BD62-C8C2-ED35D9451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33000" y="3073397"/>
            <a:ext cx="3782218" cy="2717801"/>
          </a:xfrm>
        </p:spPr>
        <p:txBody>
          <a:bodyPr>
            <a:normAutofit fontScale="70000" lnSpcReduction="20000"/>
          </a:bodyPr>
          <a:lstStyle/>
          <a:p>
            <a:pPr algn="r" rtl="1"/>
            <a:r>
              <a:rPr lang="fa-IR" b="1" dirty="0">
                <a:cs typeface="B Nazanin" panose="00000400000000000000" pitchFamily="2" charset="-78"/>
              </a:rPr>
              <a:t>نوآوری</a:t>
            </a:r>
            <a:endParaRPr lang="en-US" b="1" dirty="0">
              <a:cs typeface="B Nazanin" panose="00000400000000000000" pitchFamily="2" charset="-78"/>
            </a:endParaRPr>
          </a:p>
          <a:p>
            <a:pPr marL="457200" lvl="1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استفاده از </a:t>
            </a:r>
            <a:r>
              <a:rPr lang="en-US" dirty="0">
                <a:cs typeface="B Nazanin" panose="00000400000000000000" pitchFamily="2" charset="-78"/>
              </a:rPr>
              <a:t>NLP</a:t>
            </a:r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کاربردی بودن</a:t>
            </a:r>
          </a:p>
          <a:p>
            <a:pPr marL="457200" lvl="1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ترکیب چند قابلیت مفید</a:t>
            </a: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سادگی</a:t>
            </a:r>
          </a:p>
          <a:p>
            <a:pPr marL="457200" lvl="1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عدم نیاز به آموزش برای استفاده از ربات</a:t>
            </a:r>
          </a:p>
          <a:p>
            <a:pPr algn="r" rtl="1"/>
            <a:r>
              <a:rPr lang="fa-IR" b="1" dirty="0">
                <a:cs typeface="B Nazanin" panose="00000400000000000000" pitchFamily="2" charset="-78"/>
              </a:rPr>
              <a:t>توسعه‌پذیری</a:t>
            </a:r>
          </a:p>
          <a:p>
            <a:pPr marL="457200" lvl="1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معماری ماژولار و آماده برای افزودن قابلیت‌های جدید</a:t>
            </a:r>
          </a:p>
          <a:p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2596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پیشنهادات برای توسعه</a:t>
            </a:r>
            <a:endParaRPr lang="en-US" sz="4000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43FF-A3B5-BDFD-A525-9FF1DFEC7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2112963"/>
          </a:xfrm>
        </p:spPr>
        <p:txBody>
          <a:bodyPr anchor="t">
            <a:norm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پشتیبانی از یادآوری‌های تکرارشونده و اتصال به تقویم شمسی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افزودن قابلیت تبدیل صوت به متن برای دریافت دستورات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ارائه خروجی به صورت فایل مانند </a:t>
            </a:r>
            <a:r>
              <a:rPr lang="en-US" dirty="0">
                <a:cs typeface="B Nazanin" panose="00000400000000000000" pitchFamily="2" charset="-78"/>
              </a:rPr>
              <a:t>PDF</a:t>
            </a:r>
            <a:r>
              <a:rPr lang="fa-IR" dirty="0">
                <a:cs typeface="B Nazanin" panose="00000400000000000000" pitchFamily="2" charset="-78"/>
              </a:rPr>
              <a:t> یا </a:t>
            </a:r>
            <a:r>
              <a:rPr lang="en-US" dirty="0">
                <a:cs typeface="B Nazanin" panose="00000400000000000000" pitchFamily="2" charset="-78"/>
              </a:rPr>
              <a:t>Excel</a:t>
            </a:r>
            <a:endParaRPr lang="fa-IR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36421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BB86-0A93-EA63-BA18-72D3EA003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675" y="2689715"/>
            <a:ext cx="7296149" cy="1478570"/>
          </a:xfrm>
        </p:spPr>
        <p:txBody>
          <a:bodyPr anchor="ctr">
            <a:norm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سپاس از توجهتان</a:t>
            </a:r>
            <a:endParaRPr lang="en-US" sz="4000" dirty="0">
              <a:cs typeface="B Nazanin" panose="000004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633FBD-5C5F-7613-84D5-F62C5D2FB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53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321</TotalTime>
  <Words>544</Words>
  <Application>Microsoft Office PowerPoint</Application>
  <PresentationFormat>Widescreen</PresentationFormat>
  <Paragraphs>119</Paragraphs>
  <Slides>15</Slides>
  <Notes>5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 Nazanin</vt:lpstr>
      <vt:lpstr>Calibri</vt:lpstr>
      <vt:lpstr>Tw Cen MT</vt:lpstr>
      <vt:lpstr>Circuit</vt:lpstr>
      <vt:lpstr>دستیار هوشمند ریکاردو (AI Agent)</vt:lpstr>
      <vt:lpstr>فهرست</vt:lpstr>
      <vt:lpstr>مقدمه و بیان مسئله</vt:lpstr>
      <vt:lpstr>اهداف پروژه</vt:lpstr>
      <vt:lpstr>معرفی ربات</vt:lpstr>
      <vt:lpstr>ابزارها و تکنولوژی‌های مورد استفاده</vt:lpstr>
      <vt:lpstr>معماری سیستم</vt:lpstr>
      <vt:lpstr>قلب تپنده پروژه</vt:lpstr>
      <vt:lpstr>نمایش عملکرد ربات یادآوری</vt:lpstr>
      <vt:lpstr>نمایش عملکرد ربات لیست‌کارها</vt:lpstr>
      <vt:lpstr>نمایش عملکرد ربات ارسال ایمیل</vt:lpstr>
      <vt:lpstr>نمایش عملکرد ربات بلیط هواپیما</vt:lpstr>
      <vt:lpstr>بررسی ربات</vt:lpstr>
      <vt:lpstr>پیشنهادات برای توسعه</vt:lpstr>
      <vt:lpstr>سپاس از توجهتان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Aref Vashian</dc:creator>
  <cp:lastModifiedBy>hannaneh.ch2004@gmail.com</cp:lastModifiedBy>
  <cp:revision>92</cp:revision>
  <dcterms:created xsi:type="dcterms:W3CDTF">2025-06-05T21:37:48Z</dcterms:created>
  <dcterms:modified xsi:type="dcterms:W3CDTF">2026-02-15T14:00:46Z</dcterms:modified>
</cp:coreProperties>
</file>